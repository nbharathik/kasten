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CA68BE6-CE07-40BE-81EF-D8D6273AF12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[kasten s-b57ev6m7]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Start with a question: what could the model not answer alone?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[kasten s-0kr3m6c6]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[kasten s-9zzm6ti7]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[kasten s-gvhsk6tg]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[kasten s-k7wlmusg]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[kasten s-xpny1g0z]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914400" y="1181160"/>
            <a:ext cx="7314840" cy="220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+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1181160"/>
            <a:ext cx="7314840" cy="220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ts val="2531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Inter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914400" y="1181160"/>
            <a:ext cx="3569400" cy="220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ts val="2531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62720" y="1181160"/>
            <a:ext cx="3569400" cy="220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ts val="2531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Inter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4"/>
          <p:cNvSpPr/>
          <p:nvPr/>
        </p:nvSpPr>
        <p:spPr>
          <a:xfrm>
            <a:off x="8191440" y="4762440"/>
            <a:ext cx="761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914400">
              <a:lnSpc>
                <a:spcPts val="1400"/>
              </a:lnSpc>
              <a:tabLst>
                <a:tab algn="l" pos="0"/>
              </a:tabLst>
            </a:pPr>
            <a:fld id="{2D93A178-30EF-495F-92AA-C317E63123AE}" type="slidenum">
              <a:rPr b="0" lang="en-US" sz="1400" spc="-1" strike="noStrike">
                <a:solidFill>
                  <a:schemeClr val="dk2"/>
                </a:solidFill>
                <a:latin typeface="Inter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1333440"/>
            <a:ext cx="7924320" cy="140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ts val="4399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1"/>
                </a:solidFill>
                <a:latin typeface="Inter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ts val="2531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ts val="2531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ts val="2531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ts val="2531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ts val="2531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ts val="2531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ts val="2531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/>
          <p:nvPr/>
        </p:nvSpPr>
        <p:spPr>
          <a:xfrm>
            <a:off x="8191440" y="4762440"/>
            <a:ext cx="761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914400">
              <a:lnSpc>
                <a:spcPts val="1400"/>
              </a:lnSpc>
              <a:tabLst>
                <a:tab algn="l" pos="0"/>
              </a:tabLst>
            </a:pPr>
            <a:fld id="{36564E77-3BFD-479E-8E39-0E8A7E784A64}" type="slidenum">
              <a:rPr b="0" lang="en-US" sz="1400" spc="-1" strike="noStrike">
                <a:solidFill>
                  <a:schemeClr val="dk2"/>
                </a:solidFill>
                <a:latin typeface="Inter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609480" y="1371600"/>
            <a:ext cx="7924320" cy="167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ts val="9601"/>
              </a:lnSpc>
              <a:buNone/>
              <a:tabLst>
                <a:tab algn="l" pos="0"/>
              </a:tabLst>
            </a:pPr>
            <a:r>
              <a:rPr b="1" lang="en-US" sz="9600" spc="-1" strike="noStrike">
                <a:solidFill>
                  <a:schemeClr val="accent1"/>
                </a:solidFill>
                <a:latin typeface="Inter"/>
              </a:rPr>
              <a:t>Click to add number</a:t>
            </a:r>
            <a:endParaRPr b="0" lang="en-US" sz="96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3124080"/>
            <a:ext cx="7924320" cy="68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2"/>
                </a:solidFill>
                <a:latin typeface="Inter"/>
              </a:rPr>
              <a:t>Click to add label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/>
          <p:nvPr/>
        </p:nvSpPr>
        <p:spPr>
          <a:xfrm>
            <a:off x="8191440" y="4762440"/>
            <a:ext cx="761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914400">
              <a:lnSpc>
                <a:spcPts val="1400"/>
              </a:lnSpc>
              <a:tabLst>
                <a:tab algn="l" pos="0"/>
              </a:tabLst>
            </a:pPr>
            <a:fld id="{FEA07EA5-39AB-4DCA-A51A-CFB93D8AFAA4}" type="slidenum">
              <a:rPr b="0" lang="en-US" sz="1400" spc="-1" strike="noStrike">
                <a:solidFill>
                  <a:schemeClr val="dk2"/>
                </a:solidFill>
                <a:latin typeface="Inter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body"/>
          </p:nvPr>
        </p:nvSpPr>
        <p:spPr>
          <a:xfrm>
            <a:off x="914400" y="1181160"/>
            <a:ext cx="7314840" cy="22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b="0" i="1" lang="en-US" sz="3200" spc="-1" strike="noStrike">
                <a:solidFill>
                  <a:schemeClr val="dk1"/>
                </a:solidFill>
                <a:latin typeface="Inter"/>
              </a:rPr>
              <a:t>Click to add quote</a:t>
            </a:r>
            <a:endParaRPr b="0" lang="en-US" sz="32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914400" y="3543480"/>
            <a:ext cx="73148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Inter"/>
              </a:rPr>
              <a:t>Click to add attribution</a:t>
            </a:r>
            <a:endParaRPr b="0" lang="en-US" sz="1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4"/>
          <p:cNvSpPr/>
          <p:nvPr/>
        </p:nvSpPr>
        <p:spPr>
          <a:xfrm>
            <a:off x="8191440" y="4762440"/>
            <a:ext cx="761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914400">
              <a:lnSpc>
                <a:spcPts val="1400"/>
              </a:lnSpc>
              <a:tabLst>
                <a:tab algn="l" pos="0"/>
              </a:tabLst>
            </a:pPr>
            <a:fld id="{B38E7521-0DA0-412B-BC55-472EB612CF93}" type="slidenum">
              <a:rPr b="0" lang="en-US" sz="1400" spc="-1" strike="noStrike">
                <a:solidFill>
                  <a:schemeClr val="dk2"/>
                </a:solidFill>
                <a:latin typeface="Inter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4"/>
          <p:cNvSpPr/>
          <p:nvPr/>
        </p:nvSpPr>
        <p:spPr>
          <a:xfrm>
            <a:off x="8191440" y="4762440"/>
            <a:ext cx="761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914400">
              <a:lnSpc>
                <a:spcPts val="1400"/>
              </a:lnSpc>
              <a:tabLst>
                <a:tab algn="l" pos="0"/>
              </a:tabLst>
            </a:pPr>
            <a:fld id="{3726024D-F914-4036-B363-113B9196F110}" type="slidenum">
              <a:rPr b="0" lang="en-US" sz="1400" spc="-1" strike="noStrike">
                <a:solidFill>
                  <a:schemeClr val="dk2"/>
                </a:solidFill>
                <a:latin typeface="Inter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1638360"/>
            <a:ext cx="7924320" cy="102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ts val="4399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1"/>
                </a:solidFill>
                <a:latin typeface="Inter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4"/>
          <p:cNvSpPr/>
          <p:nvPr/>
        </p:nvSpPr>
        <p:spPr>
          <a:xfrm>
            <a:off x="8191440" y="4762440"/>
            <a:ext cx="761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914400">
              <a:lnSpc>
                <a:spcPts val="1400"/>
              </a:lnSpc>
              <a:tabLst>
                <a:tab algn="l" pos="0"/>
              </a:tabLst>
            </a:pPr>
            <a:fld id="{FD7C4985-11EE-46AD-8F01-272200CCA9DE}" type="slidenum">
              <a:rPr b="0" lang="en-US" sz="1400" spc="-1" strike="noStrike">
                <a:solidFill>
                  <a:schemeClr val="dk2"/>
                </a:solidFill>
                <a:latin typeface="Inter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343080"/>
            <a:ext cx="792432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ts val="36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Inter"/>
              </a:rPr>
              <a:t>Click to add title</a:t>
            </a:r>
            <a:endParaRPr b="0" lang="en-US" sz="36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409760"/>
            <a:ext cx="7924320" cy="32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ts val="2531"/>
              </a:lnSpc>
              <a:spcAft>
                <a:spcPts val="601"/>
              </a:spcAft>
              <a:buClr>
                <a:srgbClr val="202124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Click to add text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4"/>
          <p:cNvSpPr/>
          <p:nvPr/>
        </p:nvSpPr>
        <p:spPr>
          <a:xfrm>
            <a:off x="8191440" y="4762440"/>
            <a:ext cx="761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914400">
              <a:lnSpc>
                <a:spcPts val="1400"/>
              </a:lnSpc>
              <a:tabLst>
                <a:tab algn="l" pos="0"/>
              </a:tabLst>
            </a:pPr>
            <a:fld id="{093CC42D-9E32-474B-A059-B6293BD7EDD9}" type="slidenum">
              <a:rPr b="0" lang="en-US" sz="1400" spc="-1" strike="noStrike">
                <a:solidFill>
                  <a:schemeClr val="dk2"/>
                </a:solidFill>
                <a:latin typeface="Inter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343080"/>
            <a:ext cx="792432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ts val="36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Inter"/>
              </a:rPr>
              <a:t>Click to add title</a:t>
            </a:r>
            <a:endParaRPr b="0" lang="en-US" sz="36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ts val="2531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ts val="2531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ts val="2531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ts val="2531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ts val="2531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ts val="2531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ts val="2531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4"/>
          <p:cNvSpPr/>
          <p:nvPr/>
        </p:nvSpPr>
        <p:spPr>
          <a:xfrm>
            <a:off x="8191440" y="4762440"/>
            <a:ext cx="761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914400">
              <a:lnSpc>
                <a:spcPts val="1400"/>
              </a:lnSpc>
              <a:tabLst>
                <a:tab algn="l" pos="0"/>
              </a:tabLst>
            </a:pPr>
            <a:fld id="{AA553D41-54FF-45AF-8583-B514D1EC770D}" type="slidenum">
              <a:rPr b="0" lang="en-US" sz="1400" spc="-1" strike="noStrike">
                <a:solidFill>
                  <a:schemeClr val="dk2"/>
                </a:solidFill>
                <a:latin typeface="Inter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343080"/>
            <a:ext cx="792432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ts val="36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Inter"/>
              </a:rPr>
              <a:t>Click to add title</a:t>
            </a:r>
            <a:endParaRPr b="0" lang="en-US" sz="36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409760"/>
            <a:ext cx="3809520" cy="32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ts val="2531"/>
              </a:lnSpc>
              <a:spcAft>
                <a:spcPts val="601"/>
              </a:spcAft>
              <a:buClr>
                <a:srgbClr val="202124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Click to add text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724280" y="1409760"/>
            <a:ext cx="3809520" cy="32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ts val="2531"/>
              </a:lnSpc>
              <a:spcAft>
                <a:spcPts val="601"/>
              </a:spcAft>
              <a:buClr>
                <a:srgbClr val="202124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Click to add text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4"/>
          <p:cNvSpPr/>
          <p:nvPr/>
        </p:nvSpPr>
        <p:spPr>
          <a:xfrm>
            <a:off x="8191440" y="4762440"/>
            <a:ext cx="761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914400">
              <a:lnSpc>
                <a:spcPts val="1400"/>
              </a:lnSpc>
              <a:tabLst>
                <a:tab algn="l" pos="0"/>
              </a:tabLst>
            </a:pPr>
            <a:fld id="{787D15D1-C10E-4466-9590-553F228E8507}" type="slidenum">
              <a:rPr b="0" lang="en-US" sz="1400" spc="-1" strike="noStrike">
                <a:solidFill>
                  <a:schemeClr val="dk2"/>
                </a:solidFill>
                <a:latin typeface="Inter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343080"/>
            <a:ext cx="792432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ts val="36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Inter"/>
              </a:rPr>
              <a:t>Click to add title</a:t>
            </a:r>
            <a:endParaRPr b="0" lang="en-US" sz="36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409760"/>
            <a:ext cx="3809520" cy="32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ts val="2531"/>
              </a:lnSpc>
              <a:spcAft>
                <a:spcPts val="601"/>
              </a:spcAft>
              <a:buClr>
                <a:srgbClr val="202124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Click to add text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724280" y="1409760"/>
            <a:ext cx="3809520" cy="32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Inter"/>
              </a:rPr>
              <a:t>Click to add image</a:t>
            </a:r>
            <a:endParaRPr b="0" lang="en-US" sz="1400" spc="-1" strike="noStrike">
              <a:solidFill>
                <a:schemeClr val="dk1"/>
              </a:solidFill>
              <a:latin typeface="Inte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4"/>
          <p:cNvSpPr/>
          <p:nvPr/>
        </p:nvSpPr>
        <p:spPr>
          <a:xfrm>
            <a:off x="8191440" y="4762440"/>
            <a:ext cx="761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914400">
              <a:lnSpc>
                <a:spcPts val="1400"/>
              </a:lnSpc>
              <a:tabLst>
                <a:tab algn="l" pos="0"/>
              </a:tabLst>
            </a:pPr>
            <a:fld id="{3A0F235C-CBDA-4531-AEFA-5E39EE719438}" type="slidenum">
              <a:rPr b="0" lang="en-US" sz="1400" spc="-1" strike="noStrike">
                <a:solidFill>
                  <a:schemeClr val="dk2"/>
                </a:solidFill>
                <a:latin typeface="Inter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body"/>
          </p:nvPr>
        </p:nvSpPr>
        <p:spPr>
          <a:xfrm>
            <a:off x="609480" y="343080"/>
            <a:ext cx="7924320" cy="380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Inter"/>
              </a:rPr>
              <a:t>Click to add image</a:t>
            </a:r>
            <a:endParaRPr b="0" lang="en-US" sz="1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4267080"/>
            <a:ext cx="7924320" cy="41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Inter"/>
              </a:rPr>
              <a:t>Click to add caption</a:t>
            </a:r>
            <a:endParaRPr b="0" lang="en-US" sz="1400" spc="-1" strike="noStrike">
              <a:solidFill>
                <a:schemeClr val="dk1"/>
              </a:solidFill>
              <a:latin typeface="Inte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4"/>
          <p:cNvSpPr/>
          <p:nvPr/>
        </p:nvSpPr>
        <p:spPr>
          <a:xfrm>
            <a:off x="8191440" y="4762440"/>
            <a:ext cx="761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914400">
              <a:lnSpc>
                <a:spcPts val="1400"/>
              </a:lnSpc>
              <a:tabLst>
                <a:tab algn="l" pos="0"/>
              </a:tabLst>
            </a:pPr>
            <a:fld id="{99555D80-B758-4A66-9FEE-F00A56DE80E5}" type="slidenum">
              <a:rPr b="0" lang="en-US" sz="1400" spc="-1" strike="noStrike">
                <a:solidFill>
                  <a:schemeClr val="dk2"/>
                </a:solidFill>
                <a:latin typeface="Inter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343080"/>
            <a:ext cx="792432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ts val="36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Inter"/>
              </a:rPr>
              <a:t>Click to add title</a:t>
            </a:r>
            <a:endParaRPr b="0" lang="en-US" sz="36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09480" y="1409760"/>
            <a:ext cx="7924320" cy="32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Roboto Mono"/>
              </a:rPr>
              <a:t>Click to add code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"/>
          <p:cNvSpPr/>
          <p:nvPr/>
        </p:nvSpPr>
        <p:spPr>
          <a:xfrm>
            <a:off x="8191440" y="4762440"/>
            <a:ext cx="761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914400">
              <a:lnSpc>
                <a:spcPts val="1400"/>
              </a:lnSpc>
              <a:tabLst>
                <a:tab algn="l" pos="0"/>
              </a:tabLst>
            </a:pPr>
            <a:fld id="{E0C84CB0-462C-4540-873A-B9817EB733A4}" type="slidenum">
              <a:rPr b="0" lang="en-US" sz="1400" spc="-1" strike="noStrike">
                <a:solidFill>
                  <a:schemeClr val="dk2"/>
                </a:solidFill>
                <a:latin typeface="Inter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343080"/>
            <a:ext cx="792432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ts val="36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Inter"/>
              </a:rPr>
              <a:t>Click to add title</a:t>
            </a:r>
            <a:endParaRPr b="0" lang="en-US" sz="36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409760"/>
            <a:ext cx="3809520" cy="41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2"/>
                </a:solidFill>
                <a:latin typeface="Inter"/>
              </a:rPr>
              <a:t>Click to add label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724280" y="1409760"/>
            <a:ext cx="3809520" cy="41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2"/>
                </a:solidFill>
                <a:latin typeface="Inter"/>
              </a:rPr>
              <a:t>Click to add label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09480" y="1905120"/>
            <a:ext cx="3809520" cy="278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ts val="2531"/>
              </a:lnSpc>
              <a:spcAft>
                <a:spcPts val="601"/>
              </a:spcAft>
              <a:buClr>
                <a:srgbClr val="202124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Click to add text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724280" y="1905120"/>
            <a:ext cx="3809520" cy="278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ts val="2531"/>
              </a:lnSpc>
              <a:spcAft>
                <a:spcPts val="601"/>
              </a:spcAft>
              <a:buClr>
                <a:srgbClr val="202124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Click to add text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1333440"/>
            <a:ext cx="7924320" cy="140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ts val="4399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1"/>
                </a:solidFill>
                <a:latin typeface="Inter"/>
              </a:rPr>
              <a:t>Tool use in language models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609480" y="2895480"/>
            <a:ext cx="792432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2"/>
                </a:solidFill>
                <a:latin typeface="Inter"/>
              </a:rPr>
              <a:t>How a model decides to call a function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343080"/>
            <a:ext cx="792432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ts val="36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Inter"/>
              </a:rPr>
              <a:t>Why tools?</a:t>
            </a:r>
            <a:endParaRPr b="0" lang="en-US" sz="36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409760"/>
            <a:ext cx="7924320" cy="32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ts val="2531"/>
              </a:lnSpc>
              <a:spcAft>
                <a:spcPts val="601"/>
              </a:spcAft>
              <a:buClr>
                <a:srgbClr val="202124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Models know what they were trained on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  <a:p>
            <a:pPr lvl="1" marL="457200" indent="-228600">
              <a:lnSpc>
                <a:spcPts val="2531"/>
              </a:lnSpc>
              <a:spcAft>
                <a:spcPts val="601"/>
              </a:spcAft>
              <a:buClr>
                <a:srgbClr val="202124"/>
              </a:buClr>
              <a:buFont typeface="Arial"/>
              <a:buChar char="–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A tool reaches what they cannot know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  <a:p>
            <a:pPr lvl="1" marL="457200" indent="-228600">
              <a:lnSpc>
                <a:spcPts val="2531"/>
              </a:lnSpc>
              <a:spcAft>
                <a:spcPts val="601"/>
              </a:spcAft>
              <a:buClr>
                <a:srgbClr val="202124"/>
              </a:buClr>
              <a:buFont typeface="Arial"/>
              <a:buChar char="–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Search, code, files, calendars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  <a:p>
            <a:pPr marL="228600" indent="-228600">
              <a:lnSpc>
                <a:spcPts val="2531"/>
              </a:lnSpc>
              <a:spcAft>
                <a:spcPts val="601"/>
              </a:spcAft>
              <a:buClr>
                <a:srgbClr val="202124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Each call is one turn of a conversation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  <a:p>
            <a:pPr lvl="1" marL="457200" indent="-228600">
              <a:lnSpc>
                <a:spcPts val="2531"/>
              </a:lnSpc>
              <a:spcAft>
                <a:spcPts val="601"/>
              </a:spcAft>
              <a:buClr>
                <a:srgbClr val="202124"/>
              </a:buClr>
              <a:buFont typeface="Arial"/>
              <a:buChar char="–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The model asks; the host runs it; the answer comes back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343080"/>
            <a:ext cx="792432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ts val="36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Inter"/>
              </a:rPr>
              <a:t>The loop</a:t>
            </a:r>
            <a:endParaRPr b="0" lang="en-US" sz="36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857160" y="1905120"/>
            <a:ext cx="2095200" cy="85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rgbClr val="202124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ts val="2531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2200" spc="-1" strike="noStrike">
                <a:solidFill>
                  <a:schemeClr val="lt1"/>
                </a:solidFill>
                <a:latin typeface="Inter"/>
              </a:rPr>
              <a:t>Model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3524400" y="1905120"/>
            <a:ext cx="2095200" cy="8568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rgbClr val="202124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ts val="2531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2200" spc="-1" strike="noStrike">
                <a:solidFill>
                  <a:schemeClr val="lt1"/>
                </a:solidFill>
                <a:latin typeface="Inter"/>
              </a:rPr>
              <a:t>Host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5"/>
          <p:cNvSpPr/>
          <p:nvPr/>
        </p:nvSpPr>
        <p:spPr>
          <a:xfrm>
            <a:off x="6191280" y="1762200"/>
            <a:ext cx="2095200" cy="1142640"/>
          </a:xfrm>
          <a:prstGeom prst="ellipse">
            <a:avLst/>
          </a:prstGeom>
          <a:solidFill>
            <a:schemeClr val="accent3"/>
          </a:solidFill>
          <a:ln w="9525">
            <a:solidFill>
              <a:srgbClr val="202124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ts val="2531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2200" spc="-1" strike="noStrike">
                <a:solidFill>
                  <a:schemeClr val="lt1"/>
                </a:solidFill>
                <a:latin typeface="Inter"/>
              </a:rPr>
              <a:t>Tool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6"/>
          <p:cNvSpPr/>
          <p:nvPr/>
        </p:nvSpPr>
        <p:spPr>
          <a:xfrm>
            <a:off x="857160" y="3238560"/>
            <a:ext cx="7429320" cy="571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9525">
            <a:solidFill>
              <a:srgbClr val="202124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ts val="2531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2200" spc="-1" strike="noStrike">
                <a:solidFill>
                  <a:schemeClr val="lt1"/>
                </a:solidFill>
                <a:latin typeface="Inter"/>
              </a:rPr>
              <a:t>Result goes back into the context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2" name="Connector 7"/>
          <p:cNvCxnSpPr>
            <a:stCxn id="58" idx="3"/>
            <a:endCxn id="59" idx="1"/>
          </p:cNvCxnSpPr>
          <p:nvPr/>
        </p:nvCxnSpPr>
        <p:spPr>
          <a:xfrm>
            <a:off x="2952720" y="2333520"/>
            <a:ext cx="571680" cy="360"/>
          </a:xfrm>
          <a:prstGeom prst="straightConnector1">
            <a:avLst/>
          </a:prstGeom>
          <a:ln w="19050">
            <a:solidFill>
              <a:srgbClr val="202124"/>
            </a:solidFill>
            <a:round/>
            <a:tailEnd len="lg" type="triangle" w="lg"/>
          </a:ln>
        </p:spPr>
      </p:cxnSp>
      <p:cxnSp>
        <p:nvCxnSpPr>
          <p:cNvPr id="63" name="Connector 8"/>
          <p:cNvCxnSpPr>
            <a:stCxn id="59" idx="3"/>
            <a:endCxn id="60" idx="2"/>
          </p:cNvCxnSpPr>
          <p:nvPr/>
        </p:nvCxnSpPr>
        <p:spPr>
          <a:xfrm>
            <a:off x="5619600" y="2333520"/>
            <a:ext cx="571680" cy="360"/>
          </a:xfrm>
          <a:prstGeom prst="bentConnector2">
            <a:avLst/>
          </a:prstGeom>
          <a:ln w="19050">
            <a:solidFill>
              <a:srgbClr val="202124"/>
            </a:solidFill>
            <a:round/>
            <a:tailEnd len="lg" type="triangle" w="lg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343080"/>
            <a:ext cx="792432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ts val="36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Inter"/>
              </a:rPr>
              <a:t>Two ways to call</a:t>
            </a:r>
            <a:endParaRPr b="0" lang="en-US" sz="36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409760"/>
            <a:ext cx="3809520" cy="32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ts val="2531"/>
              </a:lnSpc>
              <a:spcAft>
                <a:spcPts val="601"/>
              </a:spcAft>
              <a:buClr>
                <a:srgbClr val="202124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Text in, text out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  <a:p>
            <a:pPr lvl="1" marL="457200" indent="-228600">
              <a:lnSpc>
                <a:spcPts val="2531"/>
              </a:lnSpc>
              <a:spcAft>
                <a:spcPts val="601"/>
              </a:spcAft>
              <a:buClr>
                <a:srgbClr val="202124"/>
              </a:buClr>
              <a:buFont typeface="Arial"/>
              <a:buChar char="–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Parse the reply yourself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  <a:p>
            <a:pPr marL="228600" indent="-228600">
              <a:lnSpc>
                <a:spcPts val="2531"/>
              </a:lnSpc>
              <a:spcAft>
                <a:spcPts val="601"/>
              </a:spcAft>
              <a:buClr>
                <a:srgbClr val="202124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Fragile, but works anywhere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724280" y="1409760"/>
            <a:ext cx="3809520" cy="32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ts val="2531"/>
              </a:lnSpc>
              <a:spcAft>
                <a:spcPts val="601"/>
              </a:spcAft>
              <a:buClr>
                <a:srgbClr val="202124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Structured calls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  <a:p>
            <a:pPr lvl="1" marL="457200" indent="-228600">
              <a:lnSpc>
                <a:spcPts val="2531"/>
              </a:lnSpc>
              <a:spcAft>
                <a:spcPts val="601"/>
              </a:spcAft>
              <a:buClr>
                <a:srgbClr val="202124"/>
              </a:buClr>
              <a:buFont typeface="Arial"/>
              <a:buChar char="–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A schema for every tool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  <a:p>
            <a:pPr lvl="1" marL="457200" indent="-228600">
              <a:lnSpc>
                <a:spcPts val="2531"/>
              </a:lnSpc>
              <a:spcAft>
                <a:spcPts val="601"/>
              </a:spcAft>
              <a:buClr>
                <a:srgbClr val="202124"/>
              </a:buClr>
              <a:buFont typeface="Arial"/>
              <a:buChar char="–"/>
            </a:pPr>
            <a:r>
              <a:rPr b="0" lang="en-US" sz="2200" spc="-1" strike="noStrike">
                <a:solidFill>
                  <a:schemeClr val="dk1"/>
                </a:solidFill>
                <a:latin typeface="Inter"/>
              </a:rPr>
              <a:t>The host checks the arguments</a:t>
            </a:r>
            <a:endParaRPr b="0" lang="en-US" sz="2200" spc="-1" strike="noStrike">
              <a:solidFill>
                <a:schemeClr val="dk1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343080"/>
            <a:ext cx="792432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ts val="36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Inter"/>
              </a:rPr>
              <a:t>What it costs</a:t>
            </a:r>
            <a:endParaRPr b="0" lang="en-US" sz="3600" spc="-1" strike="noStrike">
              <a:solidFill>
                <a:schemeClr val="dk1"/>
              </a:solidFill>
              <a:latin typeface="Inter"/>
            </a:endParaRPr>
          </a:p>
        </p:txBody>
      </p:sp>
      <p:graphicFrame>
        <p:nvGraphicFramePr>
          <p:cNvPr id="68" name="Table 3"/>
          <p:cNvGraphicFramePr/>
          <p:nvPr/>
        </p:nvGraphicFramePr>
        <p:xfrm>
          <a:off x="857160" y="1619280"/>
          <a:ext cx="7429320" cy="2095200"/>
        </p:xfrm>
        <a:graphic>
          <a:graphicData uri="http://schemas.openxmlformats.org/drawingml/2006/table">
            <a:tbl>
              <a:tblPr/>
              <a:tblGrid>
                <a:gridCol w="2857320"/>
                <a:gridCol w="2286000"/>
                <a:gridCol w="2286000"/>
              </a:tblGrid>
              <a:tr h="523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ts val="2531"/>
                        </a:lnSpc>
                        <a:spcAft>
                          <a:spcPts val="601"/>
                        </a:spcAft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Inter"/>
                        </a:rPr>
                        <a:t>Approach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5f6368"/>
                      </a:solidFill>
                      <a:prstDash val="solid"/>
                    </a:lnL>
                    <a:lnR w="9360">
                      <a:solidFill>
                        <a:srgbClr val="5f6368"/>
                      </a:solidFill>
                      <a:prstDash val="solid"/>
                    </a:lnR>
                    <a:lnT w="9360">
                      <a:solidFill>
                        <a:srgbClr val="5f6368"/>
                      </a:solidFill>
                      <a:prstDash val="solid"/>
                    </a:lnT>
                    <a:lnB w="9360">
                      <a:solidFill>
                        <a:srgbClr val="5f636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ts val="2531"/>
                        </a:lnSpc>
                        <a:spcAft>
                          <a:spcPts val="601"/>
                        </a:spcAft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Inter"/>
                        </a:rPr>
                        <a:t>Latency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5f6368"/>
                      </a:solidFill>
                      <a:prstDash val="solid"/>
                    </a:lnL>
                    <a:lnR w="9360">
                      <a:solidFill>
                        <a:srgbClr val="5f6368"/>
                      </a:solidFill>
                      <a:prstDash val="solid"/>
                    </a:lnR>
                    <a:lnT w="9360">
                      <a:solidFill>
                        <a:srgbClr val="5f6368"/>
                      </a:solidFill>
                      <a:prstDash val="solid"/>
                    </a:lnT>
                    <a:lnB w="9360">
                      <a:solidFill>
                        <a:srgbClr val="5f636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ts val="2531"/>
                        </a:lnSpc>
                        <a:spcAft>
                          <a:spcPts val="601"/>
                        </a:spcAft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Inter"/>
                        </a:rPr>
                        <a:t>Tokens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5f6368"/>
                      </a:solidFill>
                      <a:prstDash val="solid"/>
                    </a:lnL>
                    <a:lnR w="9360">
                      <a:solidFill>
                        <a:srgbClr val="5f6368"/>
                      </a:solidFill>
                      <a:prstDash val="solid"/>
                    </a:lnR>
                    <a:lnT w="9360">
                      <a:solidFill>
                        <a:srgbClr val="5f6368"/>
                      </a:solidFill>
                      <a:prstDash val="solid"/>
                    </a:lnT>
                    <a:lnB w="9360">
                      <a:solidFill>
                        <a:srgbClr val="5f6368"/>
                      </a:solidFill>
                      <a:prstDash val="solid"/>
                    </a:lnB>
                    <a:noFill/>
                  </a:tcPr>
                </a:tc>
              </a:tr>
              <a:tr h="523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ts val="2531"/>
                        </a:lnSpc>
                        <a:spcAft>
                          <a:spcPts val="601"/>
                        </a:spcAft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chemeClr val="dk1"/>
                          </a:solidFill>
                          <a:latin typeface="Inter"/>
                        </a:rPr>
                        <a:t>No tools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5f6368"/>
                      </a:solidFill>
                      <a:prstDash val="solid"/>
                    </a:lnL>
                    <a:lnR w="9360">
                      <a:solidFill>
                        <a:srgbClr val="5f6368"/>
                      </a:solidFill>
                      <a:prstDash val="solid"/>
                    </a:lnR>
                    <a:lnT w="9360">
                      <a:solidFill>
                        <a:srgbClr val="5f6368"/>
                      </a:solidFill>
                      <a:prstDash val="solid"/>
                    </a:lnT>
                    <a:lnB w="9360">
                      <a:solidFill>
                        <a:srgbClr val="5f636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ts val="2531"/>
                        </a:lnSpc>
                        <a:spcAft>
                          <a:spcPts val="601"/>
                        </a:spcAft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chemeClr val="dk1"/>
                          </a:solidFill>
                          <a:latin typeface="Inter"/>
                        </a:rPr>
                        <a:t>0.8 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5f6368"/>
                      </a:solidFill>
                      <a:prstDash val="solid"/>
                    </a:lnL>
                    <a:lnR w="9360">
                      <a:solidFill>
                        <a:srgbClr val="5f6368"/>
                      </a:solidFill>
                      <a:prstDash val="solid"/>
                    </a:lnR>
                    <a:lnT w="9360">
                      <a:solidFill>
                        <a:srgbClr val="5f6368"/>
                      </a:solidFill>
                      <a:prstDash val="solid"/>
                    </a:lnT>
                    <a:lnB w="9360">
                      <a:solidFill>
                        <a:srgbClr val="5f636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ts val="2531"/>
                        </a:lnSpc>
                        <a:spcAft>
                          <a:spcPts val="601"/>
                        </a:spcAft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chemeClr val="dk1"/>
                          </a:solidFill>
                          <a:latin typeface="Inter"/>
                        </a:rPr>
                        <a:t>400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5f6368"/>
                      </a:solidFill>
                      <a:prstDash val="solid"/>
                    </a:lnL>
                    <a:lnR w="9360">
                      <a:solidFill>
                        <a:srgbClr val="5f6368"/>
                      </a:solidFill>
                      <a:prstDash val="solid"/>
                    </a:lnR>
                    <a:lnT w="9360">
                      <a:solidFill>
                        <a:srgbClr val="5f6368"/>
                      </a:solidFill>
                      <a:prstDash val="solid"/>
                    </a:lnT>
                    <a:lnB w="9360">
                      <a:solidFill>
                        <a:srgbClr val="5f6368"/>
                      </a:solidFill>
                      <a:prstDash val="solid"/>
                    </a:lnB>
                    <a:noFill/>
                  </a:tcPr>
                </a:tc>
              </a:tr>
              <a:tr h="523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ts val="2531"/>
                        </a:lnSpc>
                        <a:spcAft>
                          <a:spcPts val="601"/>
                        </a:spcAft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chemeClr val="dk1"/>
                          </a:solidFill>
                          <a:latin typeface="Inter"/>
                        </a:rPr>
                        <a:t>One search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5f6368"/>
                      </a:solidFill>
                      <a:prstDash val="solid"/>
                    </a:lnL>
                    <a:lnR w="9360">
                      <a:solidFill>
                        <a:srgbClr val="5f6368"/>
                      </a:solidFill>
                      <a:prstDash val="solid"/>
                    </a:lnR>
                    <a:lnT w="9360">
                      <a:solidFill>
                        <a:srgbClr val="5f6368"/>
                      </a:solidFill>
                      <a:prstDash val="solid"/>
                    </a:lnT>
                    <a:lnB w="9360">
                      <a:solidFill>
                        <a:srgbClr val="5f636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ts val="2531"/>
                        </a:lnSpc>
                        <a:spcAft>
                          <a:spcPts val="601"/>
                        </a:spcAft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chemeClr val="dk1"/>
                          </a:solidFill>
                          <a:latin typeface="Inter"/>
                        </a:rPr>
                        <a:t>2.1 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5f6368"/>
                      </a:solidFill>
                      <a:prstDash val="solid"/>
                    </a:lnL>
                    <a:lnR w="9360">
                      <a:solidFill>
                        <a:srgbClr val="5f6368"/>
                      </a:solidFill>
                      <a:prstDash val="solid"/>
                    </a:lnR>
                    <a:lnT w="9360">
                      <a:solidFill>
                        <a:srgbClr val="5f6368"/>
                      </a:solidFill>
                      <a:prstDash val="solid"/>
                    </a:lnT>
                    <a:lnB w="9360">
                      <a:solidFill>
                        <a:srgbClr val="5f636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ts val="2531"/>
                        </a:lnSpc>
                        <a:spcAft>
                          <a:spcPts val="601"/>
                        </a:spcAft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chemeClr val="dk1"/>
                          </a:solidFill>
                          <a:latin typeface="Inter"/>
                        </a:rPr>
                        <a:t>1 900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5f6368"/>
                      </a:solidFill>
                      <a:prstDash val="solid"/>
                    </a:lnL>
                    <a:lnR w="9360">
                      <a:solidFill>
                        <a:srgbClr val="5f6368"/>
                      </a:solidFill>
                      <a:prstDash val="solid"/>
                    </a:lnR>
                    <a:lnT w="9360">
                      <a:solidFill>
                        <a:srgbClr val="5f6368"/>
                      </a:solidFill>
                      <a:prstDash val="solid"/>
                    </a:lnT>
                    <a:lnB w="9360">
                      <a:solidFill>
                        <a:srgbClr val="5f6368"/>
                      </a:solidFill>
                      <a:prstDash val="solid"/>
                    </a:lnB>
                    <a:noFill/>
                  </a:tcPr>
                </a:tc>
              </a:tr>
              <a:tr h="523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ts val="2531"/>
                        </a:lnSpc>
                        <a:spcAft>
                          <a:spcPts val="601"/>
                        </a:spcAft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chemeClr val="dk1"/>
                          </a:solidFill>
                          <a:latin typeface="Inter"/>
                        </a:rPr>
                        <a:t>Three-step plan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5f6368"/>
                      </a:solidFill>
                      <a:prstDash val="solid"/>
                    </a:lnL>
                    <a:lnR w="9360">
                      <a:solidFill>
                        <a:srgbClr val="5f6368"/>
                      </a:solidFill>
                      <a:prstDash val="solid"/>
                    </a:lnR>
                    <a:lnT w="9360">
                      <a:solidFill>
                        <a:srgbClr val="5f6368"/>
                      </a:solidFill>
                      <a:prstDash val="solid"/>
                    </a:lnT>
                    <a:lnB w="9360">
                      <a:solidFill>
                        <a:srgbClr val="5f636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ts val="2531"/>
                        </a:lnSpc>
                        <a:spcAft>
                          <a:spcPts val="601"/>
                        </a:spcAft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chemeClr val="dk1"/>
                          </a:solidFill>
                          <a:latin typeface="Inter"/>
                        </a:rPr>
                        <a:t>5.6 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5f6368"/>
                      </a:solidFill>
                      <a:prstDash val="solid"/>
                    </a:lnL>
                    <a:lnR w="9360">
                      <a:solidFill>
                        <a:srgbClr val="5f6368"/>
                      </a:solidFill>
                      <a:prstDash val="solid"/>
                    </a:lnR>
                    <a:lnT w="9360">
                      <a:solidFill>
                        <a:srgbClr val="5f6368"/>
                      </a:solidFill>
                      <a:prstDash val="solid"/>
                    </a:lnT>
                    <a:lnB w="9360">
                      <a:solidFill>
                        <a:srgbClr val="5f636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ts val="2531"/>
                        </a:lnSpc>
                        <a:spcAft>
                          <a:spcPts val="601"/>
                        </a:spcAft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chemeClr val="dk1"/>
                          </a:solidFill>
                          <a:latin typeface="Inter"/>
                        </a:rPr>
                        <a:t>4 300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5f6368"/>
                      </a:solidFill>
                      <a:prstDash val="solid"/>
                    </a:lnL>
                    <a:lnR w="9360">
                      <a:solidFill>
                        <a:srgbClr val="5f6368"/>
                      </a:solidFill>
                      <a:prstDash val="solid"/>
                    </a:lnR>
                    <a:lnT w="9360">
                      <a:solidFill>
                        <a:srgbClr val="5f6368"/>
                      </a:solidFill>
                      <a:prstDash val="solid"/>
                    </a:lnT>
                    <a:lnB w="9360">
                      <a:solidFill>
                        <a:srgbClr val="5f636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/>
          </p:nvPr>
        </p:nvSpPr>
        <p:spPr>
          <a:xfrm>
            <a:off x="914400" y="1181160"/>
            <a:ext cx="7314840" cy="22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b="0" i="1" lang="en-US" sz="3200" spc="-1" strike="noStrike">
                <a:solidFill>
                  <a:schemeClr val="dk1"/>
                </a:solidFill>
                <a:latin typeface="Inter"/>
              </a:rPr>
              <a:t>A tool is a question the model can ask the world.</a:t>
            </a:r>
            <a:endParaRPr b="0" lang="en-US" sz="32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914400" y="3543480"/>
            <a:ext cx="73148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Inter"/>
              </a:rPr>
              <a:t>Anonymous</a:t>
            </a:r>
            <a:endParaRPr b="0" lang="en-US" sz="1400" spc="-1" strike="noStrike">
              <a:solidFill>
                <a:schemeClr val="dk1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Light">
  <a:themeElements>
    <a:clrScheme name="Light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1a73e8"/>
      </a:accent1>
      <a:accent2>
        <a:srgbClr val="ea4335"/>
      </a:accent2>
      <a:accent3>
        <a:srgbClr val="fbbc04"/>
      </a:accent3>
      <a:accent4>
        <a:srgbClr val="34a853"/>
      </a:accent4>
      <a:accent5>
        <a:srgbClr val="ff6d01"/>
      </a:accent5>
      <a:accent6>
        <a:srgbClr val="46bdc6"/>
      </a:accent6>
      <a:hlink>
        <a:srgbClr val="1a73e8"/>
      </a:hlink>
      <a:folHlink>
        <a:srgbClr val="1a73e8"/>
      </a:folHlink>
    </a:clrScheme>
    <a:fontScheme name="Light">
      <a:majorFont>
        <a:latin typeface="Inter" pitchFamily="82" charset="0"/>
        <a:ea typeface=""/>
        <a:cs typeface=""/>
      </a:majorFont>
      <a:minorFont>
        <a:latin typeface="Inter" pitchFamily="82" charset="0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80000"/>
          </a:schemeClr>
        </a:solidFill>
        <a:solidFill>
          <a:schemeClr val="phClr">
            <a:shade val="90000"/>
          </a:schemeClr>
        </a:soli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ight">
  <a:themeElements>
    <a:clrScheme name="Light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1a73e8"/>
      </a:accent1>
      <a:accent2>
        <a:srgbClr val="ea4335"/>
      </a:accent2>
      <a:accent3>
        <a:srgbClr val="fbbc04"/>
      </a:accent3>
      <a:accent4>
        <a:srgbClr val="34a853"/>
      </a:accent4>
      <a:accent5>
        <a:srgbClr val="ff6d01"/>
      </a:accent5>
      <a:accent6>
        <a:srgbClr val="46bdc6"/>
      </a:accent6>
      <a:hlink>
        <a:srgbClr val="1a73e8"/>
      </a:hlink>
      <a:folHlink>
        <a:srgbClr val="1a73e8"/>
      </a:folHlink>
    </a:clrScheme>
    <a:fontScheme name="Light">
      <a:majorFont>
        <a:latin typeface="Inter" pitchFamily="82" charset="0"/>
        <a:ea typeface=""/>
        <a:cs typeface=""/>
      </a:majorFont>
      <a:minorFont>
        <a:latin typeface="Inter" pitchFamily="82" charset="0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80000"/>
          </a:schemeClr>
        </a:solidFill>
        <a:solidFill>
          <a:schemeClr val="phClr">
            <a:shade val="90000"/>
          </a:schemeClr>
        </a:soli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ight">
  <a:themeElements>
    <a:clrScheme name="Light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1a73e8"/>
      </a:accent1>
      <a:accent2>
        <a:srgbClr val="ea4335"/>
      </a:accent2>
      <a:accent3>
        <a:srgbClr val="fbbc04"/>
      </a:accent3>
      <a:accent4>
        <a:srgbClr val="34a853"/>
      </a:accent4>
      <a:accent5>
        <a:srgbClr val="ff6d01"/>
      </a:accent5>
      <a:accent6>
        <a:srgbClr val="46bdc6"/>
      </a:accent6>
      <a:hlink>
        <a:srgbClr val="1a73e8"/>
      </a:hlink>
      <a:folHlink>
        <a:srgbClr val="1a73e8"/>
      </a:folHlink>
    </a:clrScheme>
    <a:fontScheme name="Light">
      <a:majorFont>
        <a:latin typeface="Inter" pitchFamily="82" charset="0"/>
        <a:ea typeface=""/>
        <a:cs typeface=""/>
      </a:majorFont>
      <a:minorFont>
        <a:latin typeface="Inter" pitchFamily="82" charset="0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80000"/>
          </a:schemeClr>
        </a:solidFill>
        <a:solidFill>
          <a:schemeClr val="phClr">
            <a:shade val="90000"/>
          </a:schemeClr>
        </a:soli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Light">
  <a:themeElements>
    <a:clrScheme name="Light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1a73e8"/>
      </a:accent1>
      <a:accent2>
        <a:srgbClr val="ea4335"/>
      </a:accent2>
      <a:accent3>
        <a:srgbClr val="fbbc04"/>
      </a:accent3>
      <a:accent4>
        <a:srgbClr val="34a853"/>
      </a:accent4>
      <a:accent5>
        <a:srgbClr val="ff6d01"/>
      </a:accent5>
      <a:accent6>
        <a:srgbClr val="46bdc6"/>
      </a:accent6>
      <a:hlink>
        <a:srgbClr val="1a73e8"/>
      </a:hlink>
      <a:folHlink>
        <a:srgbClr val="1a73e8"/>
      </a:folHlink>
    </a:clrScheme>
    <a:fontScheme name="Light">
      <a:majorFont>
        <a:latin typeface="Inter" pitchFamily="82" charset="0"/>
        <a:ea typeface=""/>
        <a:cs typeface=""/>
      </a:majorFont>
      <a:minorFont>
        <a:latin typeface="Inter" pitchFamily="82" charset="0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80000"/>
          </a:schemeClr>
        </a:solidFill>
        <a:solidFill>
          <a:schemeClr val="phClr">
            <a:shade val="90000"/>
          </a:schemeClr>
        </a:soli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Light">
  <a:themeElements>
    <a:clrScheme name="Light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1a73e8"/>
      </a:accent1>
      <a:accent2>
        <a:srgbClr val="ea4335"/>
      </a:accent2>
      <a:accent3>
        <a:srgbClr val="fbbc04"/>
      </a:accent3>
      <a:accent4>
        <a:srgbClr val="34a853"/>
      </a:accent4>
      <a:accent5>
        <a:srgbClr val="ff6d01"/>
      </a:accent5>
      <a:accent6>
        <a:srgbClr val="46bdc6"/>
      </a:accent6>
      <a:hlink>
        <a:srgbClr val="1a73e8"/>
      </a:hlink>
      <a:folHlink>
        <a:srgbClr val="1a73e8"/>
      </a:folHlink>
    </a:clrScheme>
    <a:fontScheme name="Light">
      <a:majorFont>
        <a:latin typeface="Inter" pitchFamily="82" charset="0"/>
        <a:ea typeface=""/>
        <a:cs typeface=""/>
      </a:majorFont>
      <a:minorFont>
        <a:latin typeface="Inter" pitchFamily="82" charset="0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80000"/>
          </a:schemeClr>
        </a:solidFill>
        <a:solidFill>
          <a:schemeClr val="phClr">
            <a:shade val="90000"/>
          </a:schemeClr>
        </a:soli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Light">
  <a:themeElements>
    <a:clrScheme name="Light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1a73e8"/>
      </a:accent1>
      <a:accent2>
        <a:srgbClr val="ea4335"/>
      </a:accent2>
      <a:accent3>
        <a:srgbClr val="fbbc04"/>
      </a:accent3>
      <a:accent4>
        <a:srgbClr val="34a853"/>
      </a:accent4>
      <a:accent5>
        <a:srgbClr val="ff6d01"/>
      </a:accent5>
      <a:accent6>
        <a:srgbClr val="46bdc6"/>
      </a:accent6>
      <a:hlink>
        <a:srgbClr val="1a73e8"/>
      </a:hlink>
      <a:folHlink>
        <a:srgbClr val="1a73e8"/>
      </a:folHlink>
    </a:clrScheme>
    <a:fontScheme name="Light">
      <a:majorFont>
        <a:latin typeface="Inter" pitchFamily="82" charset="0"/>
        <a:ea typeface=""/>
        <a:cs typeface=""/>
      </a:majorFont>
      <a:minorFont>
        <a:latin typeface="Inter" pitchFamily="82" charset="0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80000"/>
          </a:schemeClr>
        </a:solidFill>
        <a:solidFill>
          <a:schemeClr val="phClr">
            <a:shade val="90000"/>
          </a:schemeClr>
        </a:soli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Light">
  <a:themeElements>
    <a:clrScheme name="Light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1a73e8"/>
      </a:accent1>
      <a:accent2>
        <a:srgbClr val="ea4335"/>
      </a:accent2>
      <a:accent3>
        <a:srgbClr val="fbbc04"/>
      </a:accent3>
      <a:accent4>
        <a:srgbClr val="34a853"/>
      </a:accent4>
      <a:accent5>
        <a:srgbClr val="ff6d01"/>
      </a:accent5>
      <a:accent6>
        <a:srgbClr val="46bdc6"/>
      </a:accent6>
      <a:hlink>
        <a:srgbClr val="1a73e8"/>
      </a:hlink>
      <a:folHlink>
        <a:srgbClr val="1a73e8"/>
      </a:folHlink>
    </a:clrScheme>
    <a:fontScheme name="Light">
      <a:majorFont>
        <a:latin typeface="Inter" pitchFamily="82" charset="0"/>
        <a:ea typeface=""/>
        <a:cs typeface=""/>
      </a:majorFont>
      <a:minorFont>
        <a:latin typeface="Inter" pitchFamily="82" charset="0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80000"/>
          </a:schemeClr>
        </a:solidFill>
        <a:solidFill>
          <a:schemeClr val="phClr">
            <a:shade val="90000"/>
          </a:schemeClr>
        </a:soli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Light">
  <a:themeElements>
    <a:clrScheme name="Light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1a73e8"/>
      </a:accent1>
      <a:accent2>
        <a:srgbClr val="ea4335"/>
      </a:accent2>
      <a:accent3>
        <a:srgbClr val="fbbc04"/>
      </a:accent3>
      <a:accent4>
        <a:srgbClr val="34a853"/>
      </a:accent4>
      <a:accent5>
        <a:srgbClr val="ff6d01"/>
      </a:accent5>
      <a:accent6>
        <a:srgbClr val="46bdc6"/>
      </a:accent6>
      <a:hlink>
        <a:srgbClr val="1a73e8"/>
      </a:hlink>
      <a:folHlink>
        <a:srgbClr val="1a73e8"/>
      </a:folHlink>
    </a:clrScheme>
    <a:fontScheme name="Light">
      <a:majorFont>
        <a:latin typeface="Inter" pitchFamily="82" charset="0"/>
        <a:ea typeface=""/>
        <a:cs typeface=""/>
      </a:majorFont>
      <a:minorFont>
        <a:latin typeface="Inter" pitchFamily="82" charset="0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80000"/>
          </a:schemeClr>
        </a:solidFill>
        <a:solidFill>
          <a:schemeClr val="phClr">
            <a:shade val="90000"/>
          </a:schemeClr>
        </a:soli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Light">
  <a:themeElements>
    <a:clrScheme name="Light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1a73e8"/>
      </a:accent1>
      <a:accent2>
        <a:srgbClr val="ea4335"/>
      </a:accent2>
      <a:accent3>
        <a:srgbClr val="fbbc04"/>
      </a:accent3>
      <a:accent4>
        <a:srgbClr val="34a853"/>
      </a:accent4>
      <a:accent5>
        <a:srgbClr val="ff6d01"/>
      </a:accent5>
      <a:accent6>
        <a:srgbClr val="46bdc6"/>
      </a:accent6>
      <a:hlink>
        <a:srgbClr val="1a73e8"/>
      </a:hlink>
      <a:folHlink>
        <a:srgbClr val="1a73e8"/>
      </a:folHlink>
    </a:clrScheme>
    <a:fontScheme name="Light">
      <a:majorFont>
        <a:latin typeface="Inter" pitchFamily="82" charset="0"/>
        <a:ea typeface=""/>
        <a:cs typeface=""/>
      </a:majorFont>
      <a:minorFont>
        <a:latin typeface="Inter" pitchFamily="82" charset="0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80000"/>
          </a:schemeClr>
        </a:solidFill>
        <a:solidFill>
          <a:schemeClr val="phClr">
            <a:shade val="90000"/>
          </a:schemeClr>
        </a:soli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Light">
  <a:themeElements>
    <a:clrScheme name="Light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1a73e8"/>
      </a:accent1>
      <a:accent2>
        <a:srgbClr val="ea4335"/>
      </a:accent2>
      <a:accent3>
        <a:srgbClr val="fbbc04"/>
      </a:accent3>
      <a:accent4>
        <a:srgbClr val="34a853"/>
      </a:accent4>
      <a:accent5>
        <a:srgbClr val="ff6d01"/>
      </a:accent5>
      <a:accent6>
        <a:srgbClr val="46bdc6"/>
      </a:accent6>
      <a:hlink>
        <a:srgbClr val="1a73e8"/>
      </a:hlink>
      <a:folHlink>
        <a:srgbClr val="1a73e8"/>
      </a:folHlink>
    </a:clrScheme>
    <a:fontScheme name="Light">
      <a:majorFont>
        <a:latin typeface="Inter" pitchFamily="82" charset="0"/>
        <a:ea typeface=""/>
        <a:cs typeface=""/>
      </a:majorFont>
      <a:minorFont>
        <a:latin typeface="Inter" pitchFamily="82" charset="0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80000"/>
          </a:schemeClr>
        </a:solidFill>
        <a:solidFill>
          <a:schemeClr val="phClr">
            <a:shade val="90000"/>
          </a:schemeClr>
        </a:soli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Light">
  <a:themeElements>
    <a:clrScheme name="Light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1a73e8"/>
      </a:accent1>
      <a:accent2>
        <a:srgbClr val="ea4335"/>
      </a:accent2>
      <a:accent3>
        <a:srgbClr val="fbbc04"/>
      </a:accent3>
      <a:accent4>
        <a:srgbClr val="34a853"/>
      </a:accent4>
      <a:accent5>
        <a:srgbClr val="ff6d01"/>
      </a:accent5>
      <a:accent6>
        <a:srgbClr val="46bdc6"/>
      </a:accent6>
      <a:hlink>
        <a:srgbClr val="1a73e8"/>
      </a:hlink>
      <a:folHlink>
        <a:srgbClr val="1a73e8"/>
      </a:folHlink>
    </a:clrScheme>
    <a:fontScheme name="Light">
      <a:majorFont>
        <a:latin typeface="Inter" pitchFamily="82" charset="0"/>
        <a:ea typeface=""/>
        <a:cs typeface=""/>
      </a:majorFont>
      <a:minorFont>
        <a:latin typeface="Inter" pitchFamily="82" charset="0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80000"/>
          </a:schemeClr>
        </a:solidFill>
        <a:solidFill>
          <a:schemeClr val="phClr">
            <a:shade val="90000"/>
          </a:schemeClr>
        </a:soli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Light">
  <a:themeElements>
    <a:clrScheme name="Light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1a73e8"/>
      </a:accent1>
      <a:accent2>
        <a:srgbClr val="ea4335"/>
      </a:accent2>
      <a:accent3>
        <a:srgbClr val="fbbc04"/>
      </a:accent3>
      <a:accent4>
        <a:srgbClr val="34a853"/>
      </a:accent4>
      <a:accent5>
        <a:srgbClr val="ff6d01"/>
      </a:accent5>
      <a:accent6>
        <a:srgbClr val="46bdc6"/>
      </a:accent6>
      <a:hlink>
        <a:srgbClr val="1a73e8"/>
      </a:hlink>
      <a:folHlink>
        <a:srgbClr val="1a73e8"/>
      </a:folHlink>
    </a:clrScheme>
    <a:fontScheme name="Light">
      <a:majorFont>
        <a:latin typeface="Inter" pitchFamily="82" charset="0"/>
        <a:ea typeface=""/>
        <a:cs typeface=""/>
      </a:majorFont>
      <a:minorFont>
        <a:latin typeface="Inter" pitchFamily="82" charset="0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80000"/>
          </a:schemeClr>
        </a:solidFill>
        <a:solidFill>
          <a:schemeClr val="phClr">
            <a:shade val="90000"/>
          </a:schemeClr>
        </a:soli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Kasten Slides</dc:creator>
  <dc:description/>
  <dc:language>en-US</dc:language>
  <cp:lastModifiedBy>Kasten Slides</cp:lastModifiedBy>
  <cp:revision>0</cp:revision>
  <dc:subject/>
  <dc:title>Tool use in language models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6</vt:r8>
  </property>
  <property fmtid="{D5CDD505-2E9C-101B-9397-08002B2CF9AE}" pid="3" name="PresentationFormat">
    <vt:lpwstr>On-screen Show (16:9)</vt:lpwstr>
  </property>
  <property fmtid="{D5CDD505-2E9C-101B-9397-08002B2CF9AE}" pid="4" name="Slides">
    <vt:r8>6</vt:r8>
  </property>
</Properties>
</file>