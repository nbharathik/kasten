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s-b57ev6m7]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question: what could the model not answer alone?</a:t>
            </a:r>
          </a:p>
          <a:p>
            <a:endParaRPr lang="en-US" dirty="0"/>
          </a:p>
          <a:p>
            <a:r>
              <a:rPr lang="en-US" dirty="0"/>
              <a:t>[kasten s-0kr3m6c6]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s-9zzm6ti7]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s-gvhsk6tg]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s-k7wlmusg]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[kasten s-xpny1g0z]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33500"/>
            <a:ext cx="7924800" cy="14097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895600"/>
            <a:ext cx="7924800" cy="9144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38300"/>
            <a:ext cx="7924800" cy="10287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819400"/>
            <a:ext cx="7924800" cy="6858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+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>
          <a:xfrm>
            <a:off x="4724400" y="1409700"/>
            <a:ext cx="3810000" cy="32766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342900"/>
            <a:ext cx="7924800" cy="38100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609600" y="4267200"/>
            <a:ext cx="7924800" cy="4191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caption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dirty="0">
                <a:solidFill>
                  <a:schemeClr val="tx1"/>
                </a:solidFill>
                <a:latin typeface="Roboto Mono" pitchFamily="49" charset="0"/>
              </a:defRPr>
            </a:lvl1pPr>
          </a:lstStyle>
          <a:p>
            <a:r>
              <a:rPr lang="en-US" dirty="0"/>
              <a:t>Click to add code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4191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4191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09600" y="1905000"/>
            <a:ext cx="3810000" cy="27813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4724400" y="1905000"/>
            <a:ext cx="3810000" cy="27813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7924800" cy="16764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  <a:defRPr lang="en-US" sz="9600" b="1" i="0" dirty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number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609600" y="3124200"/>
            <a:ext cx="7924800" cy="6858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label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81100"/>
            <a:ext cx="7315200" cy="2209800"/>
          </a:xfrm>
        </p:spPr>
        <p:txBody>
          <a:bodyPr wrap="square" lIns="91440" tIns="45720" rIns="91440" bIns="45720" rtlCol="0" anchor="b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defRPr lang="en-US" sz="3200" b="0" i="1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914400" y="3543300"/>
            <a:ext cx="7315200" cy="457200"/>
          </a:xfrm>
        </p:spPr>
        <p:txBody>
          <a:bodyPr wrap="square" lIns="91440" tIns="45720" rIns="91440" bIns="45720" rtlCol="0" anchor="t">
            <a:noAutofit/>
          </a:bodyPr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dirty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attribution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</p:spPr>
        <p:txBody>
          <a:bodyPr wrap="square" lIns="91440" tIns="45720" rIns="91440" bIns="45720" rtlCol="0" anchor="ctr">
            <a:no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i="0" dirty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</p:spPr>
        <p:txBody>
          <a:bodyPr wrap="square" lIns="91440" tIns="45720" rIns="91440" bIns="45720" rtlCol="0" anchor="t">
            <a:noAutofit/>
          </a:bodyPr>
          <a:lstStyle>
            <a:lvl1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1pPr>
            <a:lvl2pPr marL="4572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2pPr>
            <a:lvl3pPr marL="6858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  <a:defRPr lang="en-US" sz="2200" b="0" i="0" dirty="0">
                <a:solidFill>
                  <a:schemeClr val="tx1"/>
                </a:solidFill>
                <a:latin typeface="+mn-lt"/>
              </a:defRPr>
            </a:lvl3pPr>
            <a:lvl4pPr marL="9144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lang="en-US" sz="2200" b="0" i="0" dirty="0">
                <a:solidFill>
                  <a:schemeClr val="tx1"/>
                </a:solidFill>
                <a:latin typeface="+mn-lt"/>
              </a:defRPr>
            </a:lvl4pPr>
            <a:lvl5pPr marL="11430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  <a:defRPr lang="en-US" sz="2200" b="0" i="0" dirty="0">
                <a:solidFill>
                  <a:schemeClr val="tx1"/>
                </a:solidFill>
                <a:latin typeface="+mn-lt"/>
              </a:defRPr>
            </a:lvl5pPr>
          </a:lstStyle>
          <a:p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4" name="TextBox 4"/>
          <p:cNvSpPr txBox="1"/>
          <p:nvPr userDrawn="1"/>
        </p:nvSpPr>
        <p:spPr>
          <a:xfrm>
            <a:off x="8191500" y="4762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fld id="{464C4401-0000-4000-8000-000000000001}" type="slidenum">
              <a:rPr lang="en-US" sz="1400" b="0" i="0" dirty="0">
                <a:solidFill>
                  <a:schemeClr val="tx2"/>
                </a:solidFill>
                <a:latin typeface="+mn-lt"/>
              </a:rPr>
              <a:t>‹#›</a:t>
            </a:fld>
            <a:endParaRPr lang="en-US" sz="14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indent="0" algn="l">
        <a:lnSpc>
          <a:spcPts val="3600"/>
        </a:lnSpc>
        <a:spcBef>
          <a:spcPts val="0"/>
        </a:spcBef>
        <a:spcAft>
          <a:spcPts val="0"/>
        </a:spcAft>
        <a:buNone/>
        <a:defRPr lang="en-US" sz="3600" b="1" i="0" dirty="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•"/>
        <a:defRPr lang="en-US" sz="2200" b="0" i="0" dirty="0">
          <a:solidFill>
            <a:schemeClr val="tx1"/>
          </a:solidFill>
          <a:latin typeface="+mn-lt"/>
        </a:defRPr>
      </a:lvl1pPr>
      <a:lvl2pPr marL="4572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–"/>
        <a:defRPr lang="en-US" sz="2200" b="0" i="0" dirty="0">
          <a:solidFill>
            <a:schemeClr val="tx1"/>
          </a:solidFill>
          <a:latin typeface="+mn-lt"/>
        </a:defRPr>
      </a:lvl2pPr>
      <a:lvl3pPr marL="6858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▪"/>
        <a:defRPr lang="en-US" sz="2200" b="0" i="0" dirty="0">
          <a:solidFill>
            <a:schemeClr val="tx1"/>
          </a:solidFill>
          <a:latin typeface="+mn-lt"/>
        </a:defRPr>
      </a:lvl3pPr>
      <a:lvl4pPr marL="9144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•"/>
        <a:defRPr lang="en-US" sz="2200" b="0" i="0" dirty="0">
          <a:solidFill>
            <a:schemeClr val="tx1"/>
          </a:solidFill>
          <a:latin typeface="+mn-lt"/>
        </a:defRPr>
      </a:lvl4pPr>
      <a:lvl5pPr marL="11430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–"/>
        <a:defRPr lang="en-US" sz="2200" b="0" i="0" dirty="0">
          <a:solidFill>
            <a:schemeClr val="tx1"/>
          </a:solidFill>
          <a:latin typeface="+mn-lt"/>
        </a:defRPr>
      </a:lvl5pPr>
      <a:lvl6pPr marL="13716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▪"/>
        <a:defRPr lang="en-US" sz="2200" b="0" i="0" dirty="0">
          <a:solidFill>
            <a:schemeClr val="tx1"/>
          </a:solidFill>
          <a:latin typeface="+mn-lt"/>
        </a:defRPr>
      </a:lvl6pPr>
      <a:lvl7pPr marL="16002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•"/>
        <a:defRPr lang="en-US" sz="2200" b="0" i="0" dirty="0">
          <a:solidFill>
            <a:schemeClr val="tx1"/>
          </a:solidFill>
          <a:latin typeface="+mn-lt"/>
        </a:defRPr>
      </a:lvl7pPr>
      <a:lvl8pPr marL="18288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–"/>
        <a:defRPr lang="en-US" sz="2200" b="0" i="0" dirty="0">
          <a:solidFill>
            <a:schemeClr val="tx1"/>
          </a:solidFill>
          <a:latin typeface="+mn-lt"/>
        </a:defRPr>
      </a:lvl8pPr>
      <a:lvl9pPr marL="2057400" indent="-228600" algn="l">
        <a:lnSpc>
          <a:spcPts val="2530"/>
        </a:lnSpc>
        <a:spcBef>
          <a:spcPts val="0"/>
        </a:spcBef>
        <a:spcAft>
          <a:spcPts val="600"/>
        </a:spcAft>
        <a:buFont typeface="Arial"/>
        <a:buChar char="▪"/>
        <a:defRPr lang="en-US" sz="2200" b="0" i="0" dirty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1pPr>
      <a:lvl2pPr marL="2286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2pPr>
      <a:lvl3pPr marL="4572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3pPr>
      <a:lvl4pPr marL="6858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4pPr>
      <a:lvl5pPr marL="9144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5pPr>
      <a:lvl6pPr marL="11430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6pPr>
      <a:lvl7pPr marL="13716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7pPr>
      <a:lvl8pPr marL="16002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8pPr>
      <a:lvl9pPr marL="1828800" indent="0" algn="l">
        <a:lnSpc>
          <a:spcPts val="2530"/>
        </a:lnSpc>
        <a:spcBef>
          <a:spcPts val="0"/>
        </a:spcBef>
        <a:spcAft>
          <a:spcPts val="600"/>
        </a:spcAft>
        <a:buNone/>
        <a:defRPr lang="en-US" sz="2200" b="0" i="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609600" y="1333500"/>
            <a:ext cx="7924800" cy="14097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dirty="0">
                <a:solidFill>
                  <a:schemeClr val="tx1"/>
                </a:solidFill>
                <a:latin typeface="+mj-lt"/>
              </a:rPr>
              <a:t>Tool use in language models</a:t>
            </a:r>
            <a:endParaRPr lang="en-US" sz="44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609600" y="28956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chemeClr val="tx2"/>
                </a:solidFill>
                <a:latin typeface="+mn-lt"/>
              </a:rPr>
              <a:t>How a model decides to call a function</a:t>
            </a:r>
            <a:endParaRPr lang="en-US" sz="20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Why tools?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7924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Models know what they were trained on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A tool reaches what they cannot know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Search, code, files, calendars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Each call is one turn of a conversation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The model asks; the host runs it; the answer comes back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The loop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hape 3"/>
          <p:cNvSpPr/>
          <p:nvPr/>
        </p:nvSpPr>
        <p:spPr>
          <a:xfrm>
            <a:off x="857250" y="1905000"/>
            <a:ext cx="2095500" cy="857250"/>
          </a:xfrm>
          <a:prstGeom prst="roundRect">
            <a:avLst/>
          </a:prstGeom>
          <a:solidFill>
            <a:schemeClr val="accent1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Model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524250" y="1905000"/>
            <a:ext cx="2095500" cy="857250"/>
          </a:xfrm>
          <a:prstGeom prst="roundRect">
            <a:avLst/>
          </a:prstGeom>
          <a:solidFill>
            <a:schemeClr val="accent2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Host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191250" y="1762125"/>
            <a:ext cx="2095500" cy="1143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Tool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57250" y="3238500"/>
            <a:ext cx="7429500" cy="571500"/>
          </a:xfrm>
          <a:prstGeom prst="rightArrow">
            <a:avLst/>
          </a:prstGeom>
          <a:solidFill>
            <a:schemeClr val="accent4"/>
          </a:solidFill>
          <a:ln w="9525" cap="flat" cmpd="sng">
            <a:solidFill>
              <a:schemeClr val="tx1">
                <a:alpha val="25000"/>
              </a:schemeClr>
            </a:solidFill>
            <a:prstDash val="solid"/>
            <a:round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chemeClr val="bg1"/>
                </a:solidFill>
                <a:latin typeface="+mn-lt"/>
              </a:rPr>
              <a:t>Result goes back into the context</a:t>
            </a:r>
            <a:endParaRPr lang="en-US" sz="2200" b="1" i="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>
            <a:off x="2952750" y="2333625"/>
            <a:ext cx="57150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tailEnd type="triangle" w="lg" len="lg"/>
          </a:ln>
        </p:spPr>
      </p:cxnSp>
      <p:cxnSp>
        <p:nvCxnSpPr>
          <p:cNvPr id="8" name="Connector 8"/>
          <p:cNvCxnSpPr>
            <a:stCxn id="4" idx="3"/>
            <a:endCxn id="5" idx="2"/>
          </p:cNvCxnSpPr>
          <p:nvPr/>
        </p:nvCxnSpPr>
        <p:spPr>
          <a:xfrm>
            <a:off x="5619750" y="2333625"/>
            <a:ext cx="571500" cy="0"/>
          </a:xfrm>
          <a:prstGeom prst="bentConnector3">
            <a:avLst/>
          </a:prstGeom>
          <a:ln w="19050" cap="flat" cmpd="sng">
            <a:solidFill>
              <a:schemeClr val="tx1"/>
            </a:solidFill>
            <a:prstDash val="solid"/>
            <a:round/>
            <a:tailEnd type="triangl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Two ways to call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1"/>
          </p:nvPr>
        </p:nvSpPr>
        <p:spPr>
          <a:xfrm>
            <a:off x="609600" y="1409700"/>
            <a:ext cx="3810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Text in, text out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Parse the reply yourself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Fragile, but works anywhere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 Placeholder 4"/>
          <p:cNvSpPr>
            <a:spLocks noGrp="1"/>
          </p:cNvSpPr>
          <p:nvPr>
            <p:ph type="body" idx="2"/>
          </p:nvPr>
        </p:nvSpPr>
        <p:spPr>
          <a:xfrm>
            <a:off x="4724400" y="1409700"/>
            <a:ext cx="3810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28600" indent="-228600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Structured calls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A schema for every tool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  <a:p>
            <a:pPr marL="457200" indent="-228600" lvl="1" algn="l">
              <a:lnSpc>
                <a:spcPts val="253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lang="en-US" sz="2200" b="0" i="0" dirty="0">
                <a:solidFill>
                  <a:schemeClr val="tx1"/>
                </a:solidFill>
                <a:latin typeface="+mn-lt"/>
              </a:rPr>
              <a:t>The host checks the arguments</a:t>
            </a:r>
            <a:endParaRPr lang="en-US" sz="2200" b="0" i="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9600" y="3429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chemeClr val="tx1"/>
                </a:solidFill>
                <a:latin typeface="+mj-lt"/>
              </a:rPr>
              <a:t>What it costs</a:t>
            </a:r>
            <a:endParaRPr lang="en-US" sz="3600" b="1" i="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57250" y="1619250"/>
          <a:ext cx="7429500" cy="2095500"/>
        </p:xfrm>
        <a:graphic>
          <a:graphicData uri="http://schemas.openxmlformats.org/drawingml/2006/table">
            <a:tbl>
              <a:tblPr firstRow="1"/>
              <a:tblGrid>
                <a:gridCol w="2857500"/>
                <a:gridCol w="2286000"/>
                <a:gridCol w="2286000"/>
              </a:tblGrid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Approach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Latency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+mn-lt"/>
                        </a:rPr>
                        <a:t>Tokens</a:t>
                      </a:r>
                      <a:endParaRPr lang="en-US" sz="22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No tools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0.8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400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One search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2.1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1 900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Three-step plan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5.6 s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3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+mn-lt"/>
                        </a:rPr>
                        <a:t>4 300</a:t>
                      </a:r>
                      <a:endParaRPr lang="en-US" sz="22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1440" marR="91440" marT="45720" marB="45720" anchor="t">
                    <a:lnL w="9525">
                      <a:solidFill>
                        <a:schemeClr val="tx2">
                          <a:alpha val="30000"/>
                        </a:schemeClr>
                      </a:solidFill>
                    </a:lnL>
                    <a:lnR w="9525">
                      <a:solidFill>
                        <a:schemeClr val="tx2">
                          <a:alpha val="30000"/>
                        </a:schemeClr>
                      </a:solidFill>
                    </a:lnR>
                    <a:lnT w="9525">
                      <a:solidFill>
                        <a:schemeClr val="tx2">
                          <a:alpha val="30000"/>
                        </a:schemeClr>
                      </a:solidFill>
                    </a:lnT>
                    <a:lnB w="9525">
                      <a:solidFill>
                        <a:schemeClr val="tx2">
                          <a:alpha val="30000"/>
                        </a:scheme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xfrm>
            <a:off x="914400" y="1181100"/>
            <a:ext cx="7315200" cy="220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1" dirty="0">
                <a:solidFill>
                  <a:schemeClr val="tx1"/>
                </a:solidFill>
                <a:latin typeface="+mj-lt"/>
              </a:rPr>
              <a:t>A tool is a question the model can ask the world.</a:t>
            </a:r>
            <a:endParaRPr lang="en-US" sz="3200" b="0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3"/>
          <p:cNvSpPr>
            <a:spLocks noGrp="1"/>
          </p:cNvSpPr>
          <p:nvPr>
            <p:ph type="body" idx="2"/>
          </p:nvPr>
        </p:nvSpPr>
        <p:spPr>
          <a:xfrm>
            <a:off x="914400" y="35433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chemeClr val="tx2"/>
                </a:solidFill>
                <a:latin typeface="+mn-lt"/>
              </a:rPr>
              <a:t>Anonymous</a:t>
            </a:r>
            <a:endParaRPr lang="en-US" sz="1400" b="0" i="0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Light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">
      <a:majorFont>
        <a:latin typeface="Inter" pitchFamily="34" charset="0"/>
        <a:ea typeface=""/>
        <a:cs typeface=""/>
      </a:majorFont>
      <a:minorFont>
        <a:latin typeface="Inter" pitchFamily="34" charset="0"/>
        <a:ea typeface=""/>
        <a:cs typeface=""/>
      </a:minorFont>
    </a:fontScheme>
    <a:fmtScheme name="Kasten"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ght Notes">
  <a:themeElements>
    <a:clrScheme name="Light Notes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1A73E8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A73E8"/>
      </a:hlink>
      <a:folHlink>
        <a:srgbClr val="1A73E8"/>
      </a:folHlink>
    </a:clrScheme>
    <a:fontScheme name="Light Notes">
      <a:majorFont>
        <a:latin typeface="Inter" pitchFamily="34" charset="0"/>
        <a:ea typeface=""/>
        <a:cs typeface=""/>
      </a:majorFont>
      <a:minorFont>
        <a:latin typeface="Inter" pitchFamily="34" charset="0"/>
        <a:ea typeface=""/>
        <a:cs typeface=""/>
      </a:minorFont>
    </a:fontScheme>
    <a:fmtScheme name="Kasten"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Kasten Slides</Application>
  <PresentationFormat>On-screen Show (16:9)</PresentationFormat>
  <Slides>6</Slides>
  <Notes>6</Notes>
  <HiddenSlides>0</Hidden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use in language models</dc:title>
  <dc:creator>Kasten Slides</dc:creator>
  <cp:lastModifiedBy>Kasten Slides</cp:lastModifiedBy>
</cp:coreProperties>
</file>